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 snapToObjects="1">
      <p:cViewPr varScale="1">
        <p:scale>
          <a:sx n="122" d="100"/>
          <a:sy n="122" d="100"/>
        </p:scale>
        <p:origin x="22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1371600"/>
            <a:ext cx="10058400" cy="41148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dirty="0"/>
              <a:t>Ứng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mạng</a:t>
            </a:r>
            <a:r>
              <a:rPr dirty="0"/>
              <a:t> </a:t>
            </a:r>
            <a:r>
              <a:rPr dirty="0" err="1"/>
              <a:t>nơ-ron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br>
              <a:rPr dirty="0"/>
            </a:br>
            <a:r>
              <a:rPr dirty="0" err="1"/>
              <a:t>làm</a:t>
            </a:r>
            <a:r>
              <a:rPr dirty="0"/>
              <a:t> </a:t>
            </a:r>
            <a:r>
              <a:rPr dirty="0" err="1"/>
              <a:t>hàm</a:t>
            </a:r>
            <a:r>
              <a:rPr dirty="0"/>
              <a:t> heuristic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A*</a:t>
            </a:r>
            <a:br>
              <a:rPr dirty="0"/>
            </a:b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tìm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mê</a:t>
            </a:r>
            <a:r>
              <a:rPr dirty="0"/>
              <a:t> </a:t>
            </a:r>
            <a:r>
              <a:rPr dirty="0" err="1"/>
              <a:t>cung</a:t>
            </a:r>
            <a:endParaRPr dirty="0"/>
          </a:p>
          <a:p>
            <a:pPr>
              <a:spcAft>
                <a:spcPts val="1400"/>
              </a:spcAft>
            </a:pPr>
            <a:endParaRPr dirty="0"/>
          </a:p>
          <a:p>
            <a:pPr algn="ctr">
              <a:defRPr sz="1800">
                <a:solidFill>
                  <a:srgbClr val="D5D8DC"/>
                </a:solidFill>
              </a:defRPr>
            </a:pP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Tờ</a:t>
            </a:r>
            <a:r>
              <a:rPr dirty="0"/>
              <a:t> Linh: Nguyễn Quốc Minh</a:t>
            </a:r>
            <a:r>
              <a:rPr lang="vi-VN"/>
              <a:t>,</a:t>
            </a:r>
            <a:r>
              <a:t> Võ Nguyễn Tấn Tài</a:t>
            </a:r>
          </a:p>
          <a:p>
            <a:pPr algn="ctr">
              <a:defRPr sz="1600">
                <a:solidFill>
                  <a:srgbClr val="D5D8DC"/>
                </a:solidFill>
              </a:defRPr>
            </a:pPr>
            <a:r>
              <a:rPr dirty="0"/>
              <a:t>Học </a:t>
            </a:r>
            <a:r>
              <a:rPr dirty="0" err="1"/>
              <a:t>kỳ</a:t>
            </a:r>
            <a:r>
              <a:rPr dirty="0"/>
              <a:t> II </a:t>
            </a:r>
            <a:r>
              <a:rPr dirty="0" err="1"/>
              <a:t>năm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Mục tiêu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Hiểu ANN học như thế nào qua forward, loss, backpropagation, epoch.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Phân biệt vai trò của training, validation và testing set.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Phân biệt các chỉ số đánh giá: Accuracy (phân loại) vs. MSE/MAE (hồi quy).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Minh họa underfitting, overfitting và good fit bằng đồ thị train thật.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Tích hợp ANN vào A* để thay thế heuristic Manhattan trong demo mê cung.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Bài toán mê cung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Mê cung kích thước 20×20: 0 là đường đi, 1 là tường.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Tác nhân đi bốn hướng: lên, xuống, trái, phải.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Yêu cầu: tìm đường từ Start đến Goal với số bước ngắn nhất.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BFS (Breadth-First Search)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Duyệt đồ thị theo từng lớp khoảng cách từ điểm bắt đầu.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Đảm bảo tìm đường ngắn nhất trong mê cung không trọng số.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Nhược điểm: có thể duyệt nhiều node vì không dùng thông tin hướng đến goal.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Trong đề tài, BFS có hai vai trò: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  1) Tạo nhãn true_distance cho dataset (chạy từ goal).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  2) Là thuật toán mốc so sánh trong thực nghiệm tìm đường.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BFS KHÔNG được dùng để sinh map. Map được sinh ngẫu nhiên.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Thuật toán A* và Heuristic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Công thức đánh giá: f(n) = g(n) + h(n)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g(n): chi phí đã đi từ start đến node 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h(n): chi phí ước lượng từ n đến goal (heuristic).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f(n): tổng chi phí dự đoán.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Heuristic càng gần khoảng cách thật, A* thường duyệt càng ít node.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Heuristic Manhattan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Công thức: h(n) = |x − goal_x| + |y − goal_y|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Đơn giản, nhanh, phù hợp lưới 4 hướng.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Hạn chế: không học từ dữ liệu, không nhìn thấy vật cản.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Ý tưởng: ANN làm heuristic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Dùng ANN để dự đoán khoảng cách còn lại đến goal.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nhận: tọa độ, khoảng cách tương đối, tường lân cận (10 đặc trưng).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Giá trị dự đoán được dùng làm h(n) trong A*.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→ Giao thoa giữa học máy (Keras / tf.keras) và thuật toán tìm kiếm.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ANN học như thế nào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Forward propagation: dữ liệu đi qua mạng để tạo dự đoán.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Loss: đo sai số giữa dự đoán và nhãn thật (MSE).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Backpropagation: truyền sai số ngược để tính gradient.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Optimizer (Adam) cập nhật trọng số nhằm giảm loss.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Epoch: một lần mô hình học qua toàn bộ tập train.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Training, Validation,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Training set: dùng để cập nhật trọng số mô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Validation set: theo dõi quá trình học, chọn cấu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Testing set: đánh giá cuối cùng sau khi chọn mô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Đề tài chia 70% – 15% – 15% (70.000 / 15.000 / 15.000 dòng).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Chỉ số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Accuracy và ROC/AUC: dùng cho bài toán phân loại (classification).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Đề tài này là hồi quy (regression) vì ANN dự đoán số bước.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Loss: Mean Squared Error (MSE) – Metric: Mean Absolute Error (MAE).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MAE = 2.284 nghĩa là mô hình sai trung bình ~2.28 bước.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Cross-validation: kiểm tra độ ổn định qua 5 lần chia dữ liệu.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Input và Output của 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Input (10 đặc trưng):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x, y, goal_x, goal_y, dx, dy, up_wall, down_wall, left_wall, right_wall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Output: true_distance (số bước ngắn nhất đến goal).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Nhãn true_distance do BFS tạo từ mỗi map ngẫu nhiên.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Mô hình hồi quy: lớp output không dùng softmax.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Underfitting</a:t>
            </a:r>
          </a:p>
        </p:txBody>
      </p:sp>
      <p:pic>
        <p:nvPicPr>
          <p:cNvPr id="3" name="Picture 2" descr="under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Mạng quá nhỏ: Dense(4) + output, 5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Train/Val loss còn cao, MAE chưa tốt.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Test MSE = 16.322, MAE = 2.669.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Overfitting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Mạng lớn: 512–512–256–128 neuron, 150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Chỉ train trên 3.000 dòng.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Train loss giảm nhưng validation loss tăng.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Test MSE = 24.811, MAE = 3.064.</a:t>
            </a:r>
          </a:p>
        </p:txBody>
      </p:sp>
      <p:pic>
        <p:nvPicPr>
          <p:cNvPr id="4" name="Picture 3" descr="over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Good fit (mô hình chính)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Kiến trúc: Dense(64) – Dropout(0.2) – Dense(32) – Dense(16).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EarlyStopping dừng ở 20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Test MSE = 14.300, MAE = 2.284 (tốt nhất).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Được tích hợp vào A* làm heuristic.</a:t>
            </a:r>
          </a:p>
        </p:txBody>
      </p:sp>
      <p:pic>
        <p:nvPicPr>
          <p:cNvPr id="4" name="Picture 3" descr="good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Cross-validation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36576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Fold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15.436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14.340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14.107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15.230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5-fold, 10 epoch/fold, 20.000 dòng validation mỗi fold.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Trung bình: MAE = 2.223, MSE = 14.859.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Kết quả cho thấy mô hình good fit ổn định.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Demo so sánh thuật toán</a:t>
            </a:r>
          </a:p>
        </p:txBody>
      </p:sp>
      <p:pic>
        <p:nvPicPr>
          <p:cNvPr id="3" name="Picture 2" descr="demo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1148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3657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Thuật toán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Đường dài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Node duyệt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Thời gian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BFS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0.09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A* + Manhattan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0.07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A* + 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0.48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828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UI tương tác: python -m src.ui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Animate node + đánh số, 3 màu thuật toán.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Nhận xét và 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A* + ANN duyệt 33 node, ít nhất trong demo (so với 104 của BFS).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chỉ dùng 4 tín hiệu tường lân cận → chưa nhìn toàn bộ map.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Thời gian suy luận ANN (~0.5 ms) &gt; Manhattan (~0.07 ms).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Dataset chỉ có map ngẫu nhiên, chưa bao phủ mọi dạng khó.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Kết luận và minh bạch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Map sinh ngẫu nhiên; BFS dùng để gán nhãn true_distance (không sinh map).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được xây dựng bằng Keras (tf.keras) và tích hợp vào A*.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Ba hiện tượng học minh họa rõ: underfit, overfit, good fit.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Good fit được dùng làm heuristic, giảm node duyệt trong demo.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AI hỗ trợ khung code, debug, tổ chức nội dung.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Nhóm tự chạy lại kết quả, chỉ n cấu hình và giải thích số liệu.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1170</Words>
  <Application>Microsoft Macintosh PowerPoint</Application>
  <PresentationFormat>Widescreen</PresentationFormat>
  <Paragraphs>127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 Quoc Minh</cp:lastModifiedBy>
  <cp:revision>2</cp:revision>
  <dcterms:created xsi:type="dcterms:W3CDTF">2013-01-27T09:14:16Z</dcterms:created>
  <dcterms:modified xsi:type="dcterms:W3CDTF">2026-07-09T15:15:49Z</dcterms:modified>
  <cp:category/>
</cp:coreProperties>
</file>